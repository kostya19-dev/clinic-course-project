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81" r:id="rId7"/>
    <p:sldId id="259" r:id="rId8"/>
    <p:sldId id="260" r:id="rId9"/>
    <p:sldId id="261" r:id="rId10"/>
    <p:sldId id="262" r:id="rId11"/>
    <p:sldId id="263" r:id="rId12"/>
    <p:sldId id="264" r:id="rId13"/>
    <p:sldId id="283" r:id="rId14"/>
    <p:sldId id="284" r:id="rId15"/>
    <p:sldId id="285" r:id="rId16"/>
    <p:sldId id="274" r:id="rId17"/>
    <p:sldId id="275" r:id="rId18"/>
    <p:sldId id="282" r:id="rId19"/>
    <p:sldId id="276" r:id="rId20"/>
    <p:sldId id="280" r:id="rId21"/>
    <p:sldId id="286" r:id="rId22"/>
    <p:sldId id="287" r:id="rId23"/>
    <p:sldId id="279" r:id="rId24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Прямоугольник 6"/>
          <p:cNvSpPr>
            <a:spLocks noGrp="1"/>
          </p:cNvSpPr>
          <p:nvPr/>
        </p:nvSpPr>
        <p:spPr>
          <a:xfrm>
            <a:off x="0" y="1619250"/>
            <a:ext cx="914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/>
          <a:lstStyle/>
          <a:p>
            <a:pPr algn="ctr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Презентация к курсовой работе на тему</a:t>
            </a:r>
            <a:endParaRPr sz="16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0" y="2133600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/>
          <a:lstStyle/>
          <a:p>
            <a:pPr algn="ctr">
              <a:defRPr sz="27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Разработка базы данных</a:t>
            </a:r>
            <a:endParaRPr sz="27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0" y="2533650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/>
          <a:lstStyle/>
          <a:p>
            <a:pPr algn="ctr">
              <a:defRPr sz="27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медицинской клиники</a:t>
            </a:r>
            <a:endParaRPr sz="270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1143000" y="3771900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Студент: ИУ7-62Б Атаев К</a:t>
            </a:r>
            <a:r>
              <a:rPr lang="ru-RU"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онстантин</a:t>
            </a: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А</a:t>
            </a:r>
            <a:r>
              <a:rPr lang="ru-RU"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лександрович</a:t>
            </a:r>
            <a:endParaRPr lang="ru-RU"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1143000" y="4038600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Руководитель: Солодовников В</a:t>
            </a:r>
            <a:r>
              <a:rPr lang="ru-RU"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ладимир</a:t>
            </a: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И</a:t>
            </a:r>
            <a:r>
              <a:rPr lang="ru-RU"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горевич</a:t>
            </a:r>
            <a:endParaRPr lang="ru-RU"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1143000" y="4305300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 г.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506855"/>
          </a:xfrm>
          <a:prstGeom prst="rect">
            <a:avLst/>
          </a:prstGeom>
        </p:spPr>
      </p:pic>
      <p:sp>
        <p:nvSpPr>
          <p:cNvPr id="16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lang="ru-RU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Цель и задачи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552450" y="9906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Цель работы — разработать базу данных для хранения информации о пациентах,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552450" y="12382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врачах, расписании приема, записях, приемах, счетах и оплатах медицинской клиники.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552450" y="165735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Задачи:</a:t>
            </a:r>
            <a:endParaRPr sz="16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742950" y="2076450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провести анализ предметной области медицинской клиники;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742950" y="23717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сформализовать роли пользователей и основные операции системы;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742950" y="2667000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спроектировать сущности базы данных и связи между ними;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742950" y="296227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реализовать ограничения целостности, функции и триггеры PostgreSQL;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742950" y="3257550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разработать backend, frontend и интерфейс доступа к базе данных;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742950" y="3552825"/>
            <a:ext cx="7810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проверить корректность работы и исследовать производительность.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lang="ru-RU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114935" y="13462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Анализ существующих решений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7" name="Прямоугольник 66"/>
          <p:cNvSpPr>
            <a:spLocks noGrp="1"/>
          </p:cNvSpPr>
          <p:nvPr/>
        </p:nvSpPr>
        <p:spPr>
          <a:xfrm>
            <a:off x="590550" y="4514850"/>
            <a:ext cx="809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3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ru-RU" sz="13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</a:t>
            </a:r>
            <a:r>
              <a:rPr sz="13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азрабатываемая база данных должна хранить медицинские сущности и контролировать правила</a:t>
            </a:r>
            <a:endParaRPr sz="13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Прямоугольник 67"/>
          <p:cNvSpPr>
            <a:spLocks noGrp="1"/>
          </p:cNvSpPr>
          <p:nvPr/>
        </p:nvSpPr>
        <p:spPr>
          <a:xfrm>
            <a:off x="590550" y="4705350"/>
            <a:ext cx="809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3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предметной области: расписание, цены, приемы, счета, оплату и права доступа.</a:t>
            </a:r>
            <a:endParaRPr sz="13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0" name="Таблица анализа существующих решений"/>
          <p:cNvGraphicFramePr>
            <a:graphicFrameLocks noGrp="1"/>
          </p:cNvGraphicFramePr>
          <p:nvPr/>
        </p:nvGraphicFramePr>
        <p:xfrm>
          <a:off x="66675" y="626110"/>
          <a:ext cx="8983980" cy="3797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17370"/>
                <a:gridCol w="2554605"/>
                <a:gridCol w="2456180"/>
                <a:gridCol w="2155825"/>
              </a:tblGrid>
              <a:tr h="267335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Критерий</a:t>
                      </a:r>
                      <a:endParaRPr lang="ru-RU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Медицинские ИС</a:t>
                      </a:r>
                      <a:endParaRPr lang="ru-RU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Универсальные CRM</a:t>
                      </a:r>
                      <a:endParaRPr lang="ru-RU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Электронные таблицы</a:t>
                      </a:r>
                      <a:endParaRPr lang="ru-RU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985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Хранение расписания врачей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Штатный календарь врача и кабинета.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Календарь и задачи без медицинских правил.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Таблица расписания, заполняемая вручную.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Запрет пересечения записей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Обычно реализован на уровне системы.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Требует настройки правил или доработки.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Контролируется пользователем вручную.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4665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История цен услуг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Поддерживается через прайс-листы и периоды действия.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Может храниться в пользовательских полях.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Есть риск перезаписи старых значений.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Проведение приема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Есть карточка приема, диагноз и рекомендации.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Не является базовой сущностью CRM.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Обычно ведется на отдельных листах.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935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Поддержка счетов и оплат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Счета, строки счетов и статусы оплаты.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Частично через сделки, счета или интеграции.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Ручной расчет и ручное изменение статусов.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Ролевая модель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Пациент, врач, администратор и другие роли.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Роли интерфейса без явной модели прав БД.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Ограничение доступа только к файлу или листу.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Аудит и проверка данных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Журнал действий и отчеты.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Частично зависит от настроек CRM.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defRPr>
                      </a:pPr>
                      <a:r>
                        <a:rPr lang="ru-RU" sz="12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Проверка затруднена, ошибки легко внести вручную.</a:t>
                      </a:r>
                      <a:endParaRPr lang="ru-RU" sz="1200" b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2000" marR="12000" marT="5000" marB="5000" anchor="ctr">
                    <a:lnL w="900" cmpd="sng">
                      <a:solidFill>
                        <a:srgbClr val="000000"/>
                      </a:solidFill>
                    </a:lnL>
                    <a:lnR w="900" cmpd="sng">
                      <a:solidFill>
                        <a:srgbClr val="000000"/>
                      </a:solidFill>
                    </a:lnR>
                    <a:lnT w="900" cmpd="sng">
                      <a:solidFill>
                        <a:srgbClr val="000000"/>
                      </a:solidFill>
                    </a:lnT>
                    <a:lnB w="9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lang="ru-RU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4810" y="0"/>
            <a:ext cx="8432800" cy="4375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ru-RU" sz="2250" b="1">
                <a:solidFill>
                  <a:srgbClr val="000000"/>
                </a:solidFill>
                <a:latin typeface="Times New Roman" panose="02020603050405020304" charset="0"/>
                <a:ea typeface="TimesNewRomanPS-BoldMT"/>
                <a:cs typeface="Times New Roman" panose="02020603050405020304" charset="0"/>
              </a:rPr>
              <a:t>Д</a:t>
            </a:r>
            <a:r>
              <a:rPr sz="2250" b="1">
                <a:solidFill>
                  <a:srgbClr val="000000"/>
                </a:solidFill>
                <a:latin typeface="Times New Roman" panose="02020603050405020304" charset="0"/>
                <a:ea typeface="TimesNewRomanPS-BoldMT"/>
                <a:cs typeface="Times New Roman" panose="02020603050405020304" charset="0"/>
              </a:rPr>
              <a:t>иаграмма сущност</a:t>
            </a:r>
            <a:r>
              <a:rPr lang="ru-RU" sz="2250" b="1">
                <a:solidFill>
                  <a:srgbClr val="000000"/>
                </a:solidFill>
                <a:latin typeface="Times New Roman" panose="02020603050405020304" charset="0"/>
                <a:ea typeface="TimesNewRomanPS-BoldMT"/>
                <a:cs typeface="Times New Roman" panose="02020603050405020304" charset="0"/>
              </a:rPr>
              <a:t>ь-связь</a:t>
            </a:r>
            <a:r>
              <a:rPr sz="2250" b="1">
                <a:solidFill>
                  <a:srgbClr val="000000"/>
                </a:solidFill>
                <a:latin typeface="Times New Roman" panose="02020603050405020304" charset="0"/>
                <a:ea typeface="TimesNewRomanPS-BoldMT"/>
                <a:cs typeface="Times New Roman" panose="02020603050405020304" charset="0"/>
              </a:rPr>
              <a:t> базы данных в нотации Чена</a:t>
            </a:r>
            <a:endParaRPr sz="2250" b="1">
              <a:solidFill>
                <a:srgbClr val="000000"/>
              </a:solidFill>
              <a:latin typeface="Times New Roman" panose="02020603050405020304" charset="0"/>
              <a:ea typeface="TimesNewRomanPS-BoldMT"/>
              <a:cs typeface="Times New Roman" panose="02020603050405020304" charset="0"/>
            </a:endParaRPr>
          </a:p>
        </p:txBody>
      </p:sp>
      <p:sp>
        <p:nvSpPr>
          <p:cNvPr id="5" name="Slide number"/>
          <p:cNvSpPr txBox="1"/>
          <p:nvPr/>
        </p:nvSpPr>
        <p:spPr>
          <a:xfrm>
            <a:off x="8817610" y="49720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lang="ru-RU" sz="1050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0690"/>
            <a:ext cx="9102725" cy="4528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Схема проектируемой базы данных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" y="723900"/>
            <a:ext cx="8517255" cy="3886200"/>
          </a:xfrm>
          <a:prstGeom prst="rect">
            <a:avLst/>
          </a:prstGeom>
        </p:spPr>
      </p:pic>
      <p:sp>
        <p:nvSpPr>
          <p:cNvPr id="4" name="Прямоугольник 3"/>
          <p:cNvSpPr>
            <a:spLocks noGrp="1"/>
          </p:cNvSpPr>
          <p:nvPr/>
        </p:nvSpPr>
        <p:spPr>
          <a:xfrm>
            <a:off x="838200" y="47244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2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Схема связывает роли, справочники услуг, расписание, приемы, счета и оплаты.</a:t>
            </a:r>
            <a:endParaRPr sz="12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lang="ru-RU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ru-RU">
                <a:sym typeface="+mn-ea"/>
              </a:rPr>
              <a:t>Диаграмма прецедентов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742950"/>
            <a:ext cx="5905500" cy="3962400"/>
          </a:xfrm>
          <a:prstGeom prst="rect">
            <a:avLst/>
          </a:prstGeom>
        </p:spPr>
      </p:pic>
      <p:sp>
        <p:nvSpPr>
          <p:cNvPr id="4" name="Прямоугольник 3"/>
          <p:cNvSpPr>
            <a:spLocks noGrp="1"/>
          </p:cNvSpPr>
          <p:nvPr/>
        </p:nvSpPr>
        <p:spPr>
          <a:xfrm>
            <a:off x="1123950" y="4762500"/>
            <a:ext cx="6896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2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Актеры расположены вне границ системы, прецеденты — внутри контура приложения.</a:t>
            </a:r>
            <a:endParaRPr sz="12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lang="ru-RU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Классификация моделей данных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704850" y="1028700"/>
            <a:ext cx="171450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111111"/>
            </a:solidFill>
          </a:ln>
        </p:spPr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752475" y="11239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Модель</a:t>
            </a:r>
            <a:endParaRPr sz="11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2419350" y="1028700"/>
            <a:ext cx="3143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111111"/>
            </a:solidFill>
          </a:ln>
        </p:spPr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2466975" y="11239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Особенности</a:t>
            </a:r>
            <a:endParaRPr sz="11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5562600" y="1028700"/>
            <a:ext cx="33337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111111"/>
            </a:solidFill>
          </a:ln>
        </p:spPr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5610225" y="112395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Применимость к задаче</a:t>
            </a:r>
            <a:endParaRPr sz="11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704850" y="152400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762000" y="16002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Иерархическая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2419350" y="1524000"/>
            <a:ext cx="3143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2476500" y="1600200"/>
            <a:ext cx="3028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данные представлены деревом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5562600" y="1524000"/>
            <a:ext cx="3333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5619750" y="160020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неудобна для связей врачей, услуг и приемов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704850" y="201930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762000" y="20955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Сетевая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2419350" y="2019300"/>
            <a:ext cx="3143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2476500" y="2095500"/>
            <a:ext cx="3028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запись может иметь несколько связей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5562600" y="2019300"/>
            <a:ext cx="3333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5619750" y="209550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сложна в сопровождении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704850" y="251460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762000" y="25908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Реляционная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2419350" y="2514600"/>
            <a:ext cx="3143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2476500" y="2590800"/>
            <a:ext cx="3028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таблицы, ключи, ограничения, SQL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5562600" y="2514600"/>
            <a:ext cx="3333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5619750" y="259080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выбрана для реализации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704850" y="300990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762000" y="30861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Многомерная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2419350" y="3009900"/>
            <a:ext cx="3143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2476500" y="3086100"/>
            <a:ext cx="3028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ориентирована на OLAP-анализ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5562600" y="3009900"/>
            <a:ext cx="3333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2" name="Прямоугольник 31"/>
          <p:cNvSpPr>
            <a:spLocks noGrp="1"/>
          </p:cNvSpPr>
          <p:nvPr/>
        </p:nvSpPr>
        <p:spPr>
          <a:xfrm>
            <a:off x="5619750" y="308610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не подходит для основной OLTP-системы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Прямоугольник 32"/>
          <p:cNvSpPr>
            <a:spLocks noGrp="1"/>
          </p:cNvSpPr>
          <p:nvPr/>
        </p:nvSpPr>
        <p:spPr>
          <a:xfrm>
            <a:off x="704850" y="350520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4" name="Прямоугольник 33"/>
          <p:cNvSpPr>
            <a:spLocks noGrp="1"/>
          </p:cNvSpPr>
          <p:nvPr/>
        </p:nvSpPr>
        <p:spPr>
          <a:xfrm>
            <a:off x="762000" y="35814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Объектная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Прямоугольник 34"/>
          <p:cNvSpPr>
            <a:spLocks noGrp="1"/>
          </p:cNvSpPr>
          <p:nvPr/>
        </p:nvSpPr>
        <p:spPr>
          <a:xfrm>
            <a:off x="2419350" y="3505200"/>
            <a:ext cx="3143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6" name="Прямоугольник 35"/>
          <p:cNvSpPr>
            <a:spLocks noGrp="1"/>
          </p:cNvSpPr>
          <p:nvPr/>
        </p:nvSpPr>
        <p:spPr>
          <a:xfrm>
            <a:off x="2476500" y="3581400"/>
            <a:ext cx="3028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хранение объектов и методов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Прямоугольник 36"/>
          <p:cNvSpPr>
            <a:spLocks noGrp="1"/>
          </p:cNvSpPr>
          <p:nvPr/>
        </p:nvSpPr>
        <p:spPr>
          <a:xfrm>
            <a:off x="5562600" y="3505200"/>
            <a:ext cx="3333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8" name="Прямоугольник 37"/>
          <p:cNvSpPr>
            <a:spLocks noGrp="1"/>
          </p:cNvSpPr>
          <p:nvPr/>
        </p:nvSpPr>
        <p:spPr>
          <a:xfrm>
            <a:off x="5619750" y="358140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не дает преимуществ для данной задачи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endParaRPr lang="ru-RU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306070" y="4381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ru-RU"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Анализ </a:t>
            </a: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модели данных и СУБД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306070" y="385445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Для реализации выбрана реляционная модель данных.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306070" y="625475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/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306070" y="725805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Причины выбора: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534670" y="98298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поддержка нормализации и внешних ключей;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534670" y="128778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наличие транзакций и ограничений целостности;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534670" y="159258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возможность создания индексов, представлений, функций и триггеров;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534670" y="182626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поддержка диапазонных типов PostgreSQL для работы с временными интервалами;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534670" y="20828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удобство интеграции с backend-приложением через SQL-запросы.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lang="ru-RU" sz="1050" dirty="0"/>
          </a:p>
        </p:txBody>
      </p:sp>
      <p:sp>
        <p:nvSpPr>
          <p:cNvPr id="12" name="Table Cell 12"/>
          <p:cNvSpPr txBox="1"/>
          <p:nvPr/>
        </p:nvSpPr>
        <p:spPr>
          <a:xfrm>
            <a:off x="470000" y="2520000"/>
            <a:ext cx="175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Критерий</a:t>
            </a:r>
            <a:endParaRPr lang="ru-RU" sz="1200"/>
          </a:p>
        </p:txBody>
      </p:sp>
      <p:sp>
        <p:nvSpPr>
          <p:cNvPr id="13" name="Table Cell 13"/>
          <p:cNvSpPr txBox="1"/>
          <p:nvPr/>
        </p:nvSpPr>
        <p:spPr>
          <a:xfrm>
            <a:off x="2220000" y="2520000"/>
            <a:ext cx="100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Иерарх.</a:t>
            </a:r>
            <a:endParaRPr lang="ru-RU" sz="1200"/>
          </a:p>
        </p:txBody>
      </p:sp>
      <p:sp>
        <p:nvSpPr>
          <p:cNvPr id="14" name="Table Cell 14"/>
          <p:cNvSpPr txBox="1"/>
          <p:nvPr/>
        </p:nvSpPr>
        <p:spPr>
          <a:xfrm>
            <a:off x="3220000" y="2520000"/>
            <a:ext cx="110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Сетевая</a:t>
            </a:r>
            <a:endParaRPr lang="ru-RU" sz="1200"/>
          </a:p>
        </p:txBody>
      </p:sp>
      <p:sp>
        <p:nvSpPr>
          <p:cNvPr id="15" name="Table Cell 15"/>
          <p:cNvSpPr txBox="1"/>
          <p:nvPr/>
        </p:nvSpPr>
        <p:spPr>
          <a:xfrm>
            <a:off x="4320000" y="2520000"/>
            <a:ext cx="105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Реляц.</a:t>
            </a:r>
            <a:endParaRPr lang="ru-RU" sz="1200"/>
          </a:p>
        </p:txBody>
      </p:sp>
      <p:sp>
        <p:nvSpPr>
          <p:cNvPr id="16" name="Table Cell 16"/>
          <p:cNvSpPr txBox="1"/>
          <p:nvPr/>
        </p:nvSpPr>
        <p:spPr>
          <a:xfrm>
            <a:off x="5370000" y="2520000"/>
            <a:ext cx="138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Многомер.</a:t>
            </a:r>
            <a:endParaRPr lang="ru-RU" sz="1200"/>
          </a:p>
        </p:txBody>
      </p:sp>
      <p:sp>
        <p:nvSpPr>
          <p:cNvPr id="17" name="Table Cell 17"/>
          <p:cNvSpPr txBox="1"/>
          <p:nvPr/>
        </p:nvSpPr>
        <p:spPr>
          <a:xfrm>
            <a:off x="6750000" y="2520000"/>
            <a:ext cx="820000" cy="33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 b="1">
                <a:solidFill>
                  <a:srgbClr val="000000"/>
                </a:solidFill>
              </a:rPr>
              <a:t>ОО</a:t>
            </a:r>
            <a:endParaRPr lang="ru-RU" sz="1200"/>
          </a:p>
        </p:txBody>
      </p:sp>
      <p:sp>
        <p:nvSpPr>
          <p:cNvPr id="18" name="Table Cell 18"/>
          <p:cNvSpPr txBox="1"/>
          <p:nvPr/>
        </p:nvSpPr>
        <p:spPr>
          <a:xfrm>
            <a:off x="470000" y="2850000"/>
            <a:ext cx="175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Связи M:N</a:t>
            </a:r>
            <a:endParaRPr lang="ru-RU" sz="1200"/>
          </a:p>
        </p:txBody>
      </p:sp>
      <p:sp>
        <p:nvSpPr>
          <p:cNvPr id="19" name="Table Cell 19"/>
          <p:cNvSpPr txBox="1"/>
          <p:nvPr/>
        </p:nvSpPr>
        <p:spPr>
          <a:xfrm>
            <a:off x="2220000" y="2850000"/>
            <a:ext cx="100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20" name="Table Cell 20"/>
          <p:cNvSpPr txBox="1"/>
          <p:nvPr/>
        </p:nvSpPr>
        <p:spPr>
          <a:xfrm>
            <a:off x="3220000" y="2850000"/>
            <a:ext cx="110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21" name="Table Cell 21"/>
          <p:cNvSpPr txBox="1"/>
          <p:nvPr/>
        </p:nvSpPr>
        <p:spPr>
          <a:xfrm>
            <a:off x="4320000" y="2850000"/>
            <a:ext cx="105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22" name="Table Cell 22"/>
          <p:cNvSpPr txBox="1"/>
          <p:nvPr/>
        </p:nvSpPr>
        <p:spPr>
          <a:xfrm>
            <a:off x="5370000" y="2850000"/>
            <a:ext cx="138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23" name="Table Cell 23"/>
          <p:cNvSpPr txBox="1"/>
          <p:nvPr/>
        </p:nvSpPr>
        <p:spPr>
          <a:xfrm>
            <a:off x="6750000" y="2850000"/>
            <a:ext cx="820000" cy="385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24" name="Table Cell 24"/>
          <p:cNvSpPr txBox="1"/>
          <p:nvPr/>
        </p:nvSpPr>
        <p:spPr>
          <a:xfrm>
            <a:off x="470000" y="3235000"/>
            <a:ext cx="175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Декларативные</a:t>
            </a:r>
            <a:endParaRPr lang="ru-RU" sz="1200"/>
          </a:p>
          <a:p>
            <a:pPr algn="l"/>
            <a:r>
              <a:rPr lang="ru-RU" sz="1200">
                <a:solidFill>
                  <a:srgbClr val="000000"/>
                </a:solidFill>
              </a:rPr>
              <a:t>запросы</a:t>
            </a:r>
            <a:endParaRPr lang="ru-RU" sz="1200"/>
          </a:p>
        </p:txBody>
      </p:sp>
      <p:sp>
        <p:nvSpPr>
          <p:cNvPr id="25" name="Table Cell 25"/>
          <p:cNvSpPr txBox="1"/>
          <p:nvPr/>
        </p:nvSpPr>
        <p:spPr>
          <a:xfrm>
            <a:off x="2220000" y="3235000"/>
            <a:ext cx="100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26" name="Table Cell 26"/>
          <p:cNvSpPr txBox="1"/>
          <p:nvPr/>
        </p:nvSpPr>
        <p:spPr>
          <a:xfrm>
            <a:off x="3220000" y="3235000"/>
            <a:ext cx="110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27" name="Table Cell 27"/>
          <p:cNvSpPr txBox="1"/>
          <p:nvPr/>
        </p:nvSpPr>
        <p:spPr>
          <a:xfrm>
            <a:off x="4320000" y="3235000"/>
            <a:ext cx="105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28" name="Table Cell 28"/>
          <p:cNvSpPr txBox="1"/>
          <p:nvPr/>
        </p:nvSpPr>
        <p:spPr>
          <a:xfrm>
            <a:off x="5370000" y="3235000"/>
            <a:ext cx="138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29" name="Table Cell 29"/>
          <p:cNvSpPr txBox="1"/>
          <p:nvPr/>
        </p:nvSpPr>
        <p:spPr>
          <a:xfrm>
            <a:off x="6750000" y="3235000"/>
            <a:ext cx="82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30" name="Table Cell 30"/>
          <p:cNvSpPr txBox="1"/>
          <p:nvPr/>
        </p:nvSpPr>
        <p:spPr>
          <a:xfrm>
            <a:off x="470000" y="3655000"/>
            <a:ext cx="175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Ограничения</a:t>
            </a:r>
            <a:endParaRPr lang="ru-RU" sz="1200"/>
          </a:p>
          <a:p>
            <a:pPr algn="l"/>
            <a:r>
              <a:rPr lang="ru-RU" sz="1200">
                <a:solidFill>
                  <a:srgbClr val="000000"/>
                </a:solidFill>
              </a:rPr>
              <a:t>целостности</a:t>
            </a:r>
            <a:endParaRPr lang="ru-RU" sz="1200"/>
          </a:p>
        </p:txBody>
      </p:sp>
      <p:sp>
        <p:nvSpPr>
          <p:cNvPr id="31" name="Table Cell 31"/>
          <p:cNvSpPr txBox="1"/>
          <p:nvPr/>
        </p:nvSpPr>
        <p:spPr>
          <a:xfrm>
            <a:off x="2220000" y="3655000"/>
            <a:ext cx="100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32" name="Table Cell 32"/>
          <p:cNvSpPr txBox="1"/>
          <p:nvPr/>
        </p:nvSpPr>
        <p:spPr>
          <a:xfrm>
            <a:off x="3220000" y="3655000"/>
            <a:ext cx="110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33" name="Table Cell 33"/>
          <p:cNvSpPr txBox="1"/>
          <p:nvPr/>
        </p:nvSpPr>
        <p:spPr>
          <a:xfrm>
            <a:off x="4320000" y="3655000"/>
            <a:ext cx="105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34" name="Table Cell 34"/>
          <p:cNvSpPr txBox="1"/>
          <p:nvPr/>
        </p:nvSpPr>
        <p:spPr>
          <a:xfrm>
            <a:off x="5370000" y="3655000"/>
            <a:ext cx="138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35" name="Table Cell 35"/>
          <p:cNvSpPr txBox="1"/>
          <p:nvPr/>
        </p:nvSpPr>
        <p:spPr>
          <a:xfrm>
            <a:off x="6750000" y="3655000"/>
            <a:ext cx="82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36" name="Table Cell 36"/>
          <p:cNvSpPr txBox="1"/>
          <p:nvPr/>
        </p:nvSpPr>
        <p:spPr>
          <a:xfrm>
            <a:off x="470000" y="4075000"/>
            <a:ext cx="175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Транзакционная</a:t>
            </a:r>
            <a:endParaRPr lang="ru-RU" sz="1200"/>
          </a:p>
          <a:p>
            <a:pPr algn="l"/>
            <a:r>
              <a:rPr lang="ru-RU" sz="1200">
                <a:solidFill>
                  <a:srgbClr val="000000"/>
                </a:solidFill>
              </a:rPr>
              <a:t>обработка</a:t>
            </a:r>
            <a:endParaRPr lang="ru-RU" sz="1200"/>
          </a:p>
        </p:txBody>
      </p:sp>
      <p:sp>
        <p:nvSpPr>
          <p:cNvPr id="37" name="Table Cell 37"/>
          <p:cNvSpPr txBox="1"/>
          <p:nvPr/>
        </p:nvSpPr>
        <p:spPr>
          <a:xfrm>
            <a:off x="2220000" y="4075000"/>
            <a:ext cx="100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38" name="Table Cell 38"/>
          <p:cNvSpPr txBox="1"/>
          <p:nvPr/>
        </p:nvSpPr>
        <p:spPr>
          <a:xfrm>
            <a:off x="3220000" y="4075000"/>
            <a:ext cx="110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частично</a:t>
            </a:r>
            <a:endParaRPr lang="ru-RU" sz="1200"/>
          </a:p>
        </p:txBody>
      </p:sp>
      <p:sp>
        <p:nvSpPr>
          <p:cNvPr id="39" name="Table Cell 39"/>
          <p:cNvSpPr txBox="1"/>
          <p:nvPr/>
        </p:nvSpPr>
        <p:spPr>
          <a:xfrm>
            <a:off x="4320000" y="4075000"/>
            <a:ext cx="105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40" name="Table Cell 40"/>
          <p:cNvSpPr txBox="1"/>
          <p:nvPr/>
        </p:nvSpPr>
        <p:spPr>
          <a:xfrm>
            <a:off x="5370000" y="4075000"/>
            <a:ext cx="138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нет</a:t>
            </a:r>
            <a:endParaRPr lang="ru-RU" sz="1200"/>
          </a:p>
        </p:txBody>
      </p:sp>
      <p:sp>
        <p:nvSpPr>
          <p:cNvPr id="41" name="Table Cell 41"/>
          <p:cNvSpPr txBox="1"/>
          <p:nvPr/>
        </p:nvSpPr>
        <p:spPr>
          <a:xfrm>
            <a:off x="6750000" y="4075000"/>
            <a:ext cx="820000" cy="42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да</a:t>
            </a:r>
            <a:endParaRPr lang="ru-RU" sz="1200"/>
          </a:p>
        </p:txBody>
      </p:sp>
      <p:sp>
        <p:nvSpPr>
          <p:cNvPr id="42" name="Table Cell 42"/>
          <p:cNvSpPr txBox="1"/>
          <p:nvPr/>
        </p:nvSpPr>
        <p:spPr>
          <a:xfrm>
            <a:off x="470000" y="4495000"/>
            <a:ext cx="175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Распространенность</a:t>
            </a:r>
            <a:endParaRPr lang="ru-RU" sz="1200"/>
          </a:p>
          <a:p>
            <a:pPr algn="l"/>
            <a:r>
              <a:rPr lang="ru-RU" sz="1200">
                <a:solidFill>
                  <a:srgbClr val="000000"/>
                </a:solidFill>
              </a:rPr>
              <a:t>СУБД</a:t>
            </a:r>
            <a:endParaRPr lang="ru-RU" sz="1200"/>
          </a:p>
        </p:txBody>
      </p:sp>
      <p:sp>
        <p:nvSpPr>
          <p:cNvPr id="43" name="Table Cell 43"/>
          <p:cNvSpPr txBox="1"/>
          <p:nvPr/>
        </p:nvSpPr>
        <p:spPr>
          <a:xfrm>
            <a:off x="2220000" y="4495000"/>
            <a:ext cx="100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низкая</a:t>
            </a:r>
            <a:endParaRPr lang="ru-RU" sz="1200"/>
          </a:p>
        </p:txBody>
      </p:sp>
      <p:sp>
        <p:nvSpPr>
          <p:cNvPr id="44" name="Table Cell 44"/>
          <p:cNvSpPr txBox="1"/>
          <p:nvPr/>
        </p:nvSpPr>
        <p:spPr>
          <a:xfrm>
            <a:off x="3220000" y="4495000"/>
            <a:ext cx="110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низкая</a:t>
            </a:r>
            <a:endParaRPr lang="ru-RU" sz="1200"/>
          </a:p>
        </p:txBody>
      </p:sp>
      <p:sp>
        <p:nvSpPr>
          <p:cNvPr id="45" name="Table Cell 45"/>
          <p:cNvSpPr txBox="1"/>
          <p:nvPr/>
        </p:nvSpPr>
        <p:spPr>
          <a:xfrm>
            <a:off x="4320000" y="4495000"/>
            <a:ext cx="105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высокая</a:t>
            </a:r>
            <a:endParaRPr lang="ru-RU" sz="1200"/>
          </a:p>
        </p:txBody>
      </p:sp>
      <p:sp>
        <p:nvSpPr>
          <p:cNvPr id="46" name="Table Cell 46"/>
          <p:cNvSpPr txBox="1"/>
          <p:nvPr/>
        </p:nvSpPr>
        <p:spPr>
          <a:xfrm>
            <a:off x="5370000" y="4495000"/>
            <a:ext cx="138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средняя</a:t>
            </a:r>
            <a:endParaRPr lang="ru-RU" sz="1200"/>
          </a:p>
        </p:txBody>
      </p:sp>
      <p:sp>
        <p:nvSpPr>
          <p:cNvPr id="47" name="Table Cell 47"/>
          <p:cNvSpPr txBox="1"/>
          <p:nvPr/>
        </p:nvSpPr>
        <p:spPr>
          <a:xfrm>
            <a:off x="6750000" y="4495000"/>
            <a:ext cx="820000" cy="42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низкая</a:t>
            </a:r>
            <a:endParaRPr lang="ru-RU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Реализованные ограничения целостности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10668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первичные и внешние ключи связывают пользователей, врачей, пациентов, записи, приемы и счета;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4287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домены проверяют формат e-mail и номера телефона;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85800" y="17907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CHECK-ограничения запрещают отрицательные суммы и некорректные интервалы времени;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85800" y="21526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TSTZRANGE используется для интервалов цен, доступности врача и записей;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85800" y="25146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EXCLUDE-ограничения запрещают пересечение активных записей одного врача;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85800" y="28765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триггеры пересчитывают состояние счета после изменения строк счета или оплат.</a:t>
            </a:r>
            <a:endParaRPr sz="157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endParaRPr lang="ru-RU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Реализованные функции базы данных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508635" y="952500"/>
            <a:ext cx="25717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111111"/>
            </a:solidFill>
          </a:ln>
        </p:spPr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556260" y="1047750"/>
            <a:ext cx="2476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Функция</a:t>
            </a:r>
            <a:endParaRPr sz="11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3080385" y="952500"/>
            <a:ext cx="590550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111111"/>
            </a:solidFill>
          </a:ln>
        </p:spPr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3128010" y="1047750"/>
            <a:ext cx="5810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Назначение</a:t>
            </a:r>
            <a:endParaRPr sz="1125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508635" y="1362075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565785" y="1438275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get_service_price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3080385" y="1362075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3137535" y="1438275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получение актуальной цены услуги на заданный момент времени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508635" y="1771650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565785" y="1847850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book_appointment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3080385" y="1771650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3137535" y="1847850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запись пациента на прием после проверки доступности врача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508635" y="2181225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565785" y="2257425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cancel_appointment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3080385" y="2181225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3137535" y="2257425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отмена записи с учетом статуса и роли пользователя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508635" y="2590800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565785" y="2667000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complete_visit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3080385" y="2590800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3137535" y="2667000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проведение приема, фиксация оказанных услуг и формирование счета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508635" y="3000375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565785" y="3076575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register_payment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3080385" y="3000375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3137535" y="3076575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регистрация оплаты по счету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508635" y="3409950"/>
            <a:ext cx="25717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565785" y="3486150"/>
            <a:ext cx="2457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refresh_invoice_state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3080385" y="3409950"/>
            <a:ext cx="5905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3137535" y="3486150"/>
            <a:ext cx="579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def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пересчет суммы, оплаченной части и статуса счета</a:t>
            </a:r>
            <a:endParaRPr sz="10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endParaRPr lang="ru-RU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Текстовое поле 5"/>
          <p:cNvSpPr txBox="1"/>
          <p:nvPr/>
        </p:nvSpPr>
        <p:spPr>
          <a:xfrm>
            <a:off x="0" y="0"/>
            <a:ext cx="914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</a:rPr>
              <a:t>Схема алгоритма функции завершения приёма пациента (</a:t>
            </a:r>
            <a:r>
              <a:rPr lang="en-US" altLang="en-US" sz="2250" b="1">
                <a:latin typeface="Times New Roman" panose="02020603050405020304" charset="0"/>
                <a:cs typeface="Times New Roman" panose="02020603050405020304" charset="0"/>
              </a:rPr>
              <a:t>complete_visit</a:t>
            </a:r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</a:rPr>
              <a:t>) часть 1</a:t>
            </a:r>
            <a:endParaRPr lang="ru-RU" altLang="en-US" sz="22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lang="ru-RU" sz="1050" dirty="0"/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783590"/>
            <a:ext cx="6411595" cy="4295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0" y="0"/>
            <a:ext cx="906843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Схема алгоритма функции завершения приёма пациента (</a:t>
            </a:r>
            <a:r>
              <a:rPr lang="en-US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complete_visit</a:t>
            </a:r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 часть 2</a:t>
            </a:r>
            <a:endParaRPr lang="ru-RU" altLang="en-US" sz="225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" y="711200"/>
            <a:ext cx="8589645" cy="4432300"/>
          </a:xfrm>
          <a:prstGeom prst="rect">
            <a:avLst/>
          </a:prstGeom>
        </p:spPr>
      </p:pic>
      <p:sp>
        <p:nvSpPr>
          <p:cNvPr id="7" name="Slide number"/>
          <p:cNvSpPr txBox="1"/>
          <p:nvPr/>
        </p:nvSpPr>
        <p:spPr>
          <a:xfrm>
            <a:off x="8586470" y="4819650"/>
            <a:ext cx="48895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endParaRPr lang="ru-RU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0" y="0"/>
            <a:ext cx="892746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Схема алгоритма функции завершения приёма пациента (</a:t>
            </a:r>
            <a:r>
              <a:rPr lang="en-US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complete_visit</a:t>
            </a:r>
            <a:r>
              <a:rPr lang="ru-RU" altLang="en-US" sz="225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 часть 3</a:t>
            </a:r>
            <a:endParaRPr lang="ru-RU" altLang="en-US" sz="225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3590"/>
            <a:ext cx="8853170" cy="4330065"/>
          </a:xfrm>
          <a:prstGeom prst="rect">
            <a:avLst/>
          </a:prstGeom>
        </p:spPr>
      </p:pic>
      <p:sp>
        <p:nvSpPr>
          <p:cNvPr id="7" name="Slide number"/>
          <p:cNvSpPr txBox="1"/>
          <p:nvPr/>
        </p:nvSpPr>
        <p:spPr>
          <a:xfrm>
            <a:off x="8593455" y="4819650"/>
            <a:ext cx="48895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</a:t>
            </a:r>
            <a:endParaRPr lang="ru-RU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Средства реализации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</a:t>
            </a:r>
            <a:endParaRPr lang="ru-RU" sz="1050" dirty="0"/>
          </a:p>
        </p:txBody>
      </p:sp>
      <p:sp>
        <p:nvSpPr>
          <p:cNvPr id="32" name="TextBox 32"/>
          <p:cNvSpPr txBox="1"/>
          <p:nvPr/>
        </p:nvSpPr>
        <p:spPr>
          <a:xfrm>
            <a:off x="650000" y="900000"/>
            <a:ext cx="3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ru-RU" sz="1600" b="1">
                <a:solidFill>
                  <a:srgbClr val="1E3A5F"/>
                </a:solidFill>
              </a:rPr>
              <a:t>Стек реализации</a:t>
            </a:r>
            <a:endParaRPr lang="ru-RU" sz="1600"/>
          </a:p>
        </p:txBody>
      </p:sp>
      <p:sp>
        <p:nvSpPr>
          <p:cNvPr id="33" name="Table Cell 33"/>
          <p:cNvSpPr txBox="1"/>
          <p:nvPr/>
        </p:nvSpPr>
        <p:spPr>
          <a:xfrm>
            <a:off x="650000" y="1200000"/>
            <a:ext cx="1350000" cy="31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 b="1">
                <a:solidFill>
                  <a:srgbClr val="000000"/>
                </a:solidFill>
              </a:rPr>
              <a:t>Средство</a:t>
            </a:r>
            <a:endParaRPr lang="ru-RU" sz="1100"/>
          </a:p>
        </p:txBody>
      </p:sp>
      <p:sp>
        <p:nvSpPr>
          <p:cNvPr id="34" name="Table Cell 34"/>
          <p:cNvSpPr txBox="1"/>
          <p:nvPr/>
        </p:nvSpPr>
        <p:spPr>
          <a:xfrm>
            <a:off x="2000000" y="1200000"/>
            <a:ext cx="3000000" cy="31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 b="1">
                <a:solidFill>
                  <a:srgbClr val="000000"/>
                </a:solidFill>
              </a:rPr>
              <a:t>Назначение</a:t>
            </a:r>
            <a:endParaRPr lang="ru-RU" sz="1100"/>
          </a:p>
        </p:txBody>
      </p:sp>
      <p:sp>
        <p:nvSpPr>
          <p:cNvPr id="35" name="Table Cell 35"/>
          <p:cNvSpPr txBox="1"/>
          <p:nvPr/>
        </p:nvSpPr>
        <p:spPr>
          <a:xfrm>
            <a:off x="650000" y="1510000"/>
            <a:ext cx="135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PostgreSQL</a:t>
            </a:r>
            <a:endParaRPr lang="ru-RU" sz="1100"/>
          </a:p>
        </p:txBody>
      </p:sp>
      <p:sp>
        <p:nvSpPr>
          <p:cNvPr id="36" name="Table Cell 36"/>
          <p:cNvSpPr txBox="1"/>
          <p:nvPr/>
        </p:nvSpPr>
        <p:spPr>
          <a:xfrm>
            <a:off x="2000000" y="1510000"/>
            <a:ext cx="300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основная СУБД, хранение данных и функции</a:t>
            </a:r>
            <a:endParaRPr lang="ru-RU" sz="1100"/>
          </a:p>
        </p:txBody>
      </p:sp>
      <p:sp>
        <p:nvSpPr>
          <p:cNvPr id="37" name="Table Cell 37"/>
          <p:cNvSpPr txBox="1"/>
          <p:nvPr/>
        </p:nvSpPr>
        <p:spPr>
          <a:xfrm>
            <a:off x="650000" y="1910000"/>
            <a:ext cx="1350000" cy="40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Redis</a:t>
            </a:r>
            <a:endParaRPr lang="ru-RU" sz="1100"/>
          </a:p>
        </p:txBody>
      </p:sp>
      <p:sp>
        <p:nvSpPr>
          <p:cNvPr id="38" name="Table Cell 38"/>
          <p:cNvSpPr txBox="1"/>
          <p:nvPr/>
        </p:nvSpPr>
        <p:spPr>
          <a:xfrm>
            <a:off x="2000000" y="1910000"/>
            <a:ext cx="3000000" cy="40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кэш расписания и прайс-листа</a:t>
            </a:r>
            <a:endParaRPr lang="ru-RU" sz="1100"/>
          </a:p>
        </p:txBody>
      </p:sp>
      <p:sp>
        <p:nvSpPr>
          <p:cNvPr id="39" name="Table Cell 39"/>
          <p:cNvSpPr txBox="1"/>
          <p:nvPr/>
        </p:nvSpPr>
        <p:spPr>
          <a:xfrm>
            <a:off x="650000" y="2310000"/>
            <a:ext cx="135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Go, Gin</a:t>
            </a:r>
            <a:endParaRPr lang="ru-RU" sz="1100"/>
          </a:p>
        </p:txBody>
      </p:sp>
      <p:sp>
        <p:nvSpPr>
          <p:cNvPr id="40" name="Table Cell 40"/>
          <p:cNvSpPr txBox="1"/>
          <p:nvPr/>
        </p:nvSpPr>
        <p:spPr>
          <a:xfrm>
            <a:off x="2000000" y="2310000"/>
            <a:ext cx="300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backend и REST API</a:t>
            </a:r>
            <a:endParaRPr lang="ru-RU" sz="1100"/>
          </a:p>
        </p:txBody>
      </p:sp>
      <p:sp>
        <p:nvSpPr>
          <p:cNvPr id="41" name="Table Cell 41"/>
          <p:cNvSpPr txBox="1"/>
          <p:nvPr/>
        </p:nvSpPr>
        <p:spPr>
          <a:xfrm>
            <a:off x="650000" y="2710000"/>
            <a:ext cx="1350000" cy="40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React, TS</a:t>
            </a:r>
            <a:endParaRPr lang="ru-RU" sz="1100"/>
          </a:p>
        </p:txBody>
      </p:sp>
      <p:sp>
        <p:nvSpPr>
          <p:cNvPr id="42" name="Table Cell 42"/>
          <p:cNvSpPr txBox="1"/>
          <p:nvPr/>
        </p:nvSpPr>
        <p:spPr>
          <a:xfrm>
            <a:off x="2000000" y="2710000"/>
            <a:ext cx="3000000" cy="40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frontend-интерфейс</a:t>
            </a:r>
            <a:endParaRPr lang="ru-RU" sz="1100"/>
          </a:p>
        </p:txBody>
      </p:sp>
      <p:sp>
        <p:nvSpPr>
          <p:cNvPr id="43" name="Table Cell 43"/>
          <p:cNvSpPr txBox="1"/>
          <p:nvPr/>
        </p:nvSpPr>
        <p:spPr>
          <a:xfrm>
            <a:off x="650000" y="3110000"/>
            <a:ext cx="135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Docker</a:t>
            </a:r>
            <a:endParaRPr lang="ru-RU" sz="1100"/>
          </a:p>
        </p:txBody>
      </p:sp>
      <p:sp>
        <p:nvSpPr>
          <p:cNvPr id="44" name="Table Cell 44"/>
          <p:cNvSpPr txBox="1"/>
          <p:nvPr/>
        </p:nvSpPr>
        <p:spPr>
          <a:xfrm>
            <a:off x="2000000" y="3110000"/>
            <a:ext cx="3000000" cy="4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100">
                <a:solidFill>
                  <a:srgbClr val="000000"/>
                </a:solidFill>
              </a:rPr>
              <a:t>контейнерный стенд проекта</a:t>
            </a:r>
            <a:endParaRPr lang="ru-RU" sz="1100"/>
          </a:p>
        </p:txBody>
      </p:sp>
      <p:sp>
        <p:nvSpPr>
          <p:cNvPr id="45" name="TextBox 45"/>
          <p:cNvSpPr txBox="1"/>
          <p:nvPr/>
        </p:nvSpPr>
        <p:spPr>
          <a:xfrm>
            <a:off x="5150000" y="900000"/>
            <a:ext cx="345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ru-RU" sz="1600" b="1">
                <a:solidFill>
                  <a:srgbClr val="1E3A5F"/>
                </a:solidFill>
              </a:rPr>
              <a:t>Выбор основной БД</a:t>
            </a:r>
            <a:endParaRPr lang="ru-RU" sz="1600"/>
          </a:p>
        </p:txBody>
      </p:sp>
      <p:sp>
        <p:nvSpPr>
          <p:cNvPr id="46" name="Table Cell 46"/>
          <p:cNvSpPr txBox="1"/>
          <p:nvPr/>
        </p:nvSpPr>
        <p:spPr>
          <a:xfrm>
            <a:off x="5150000" y="1200000"/>
            <a:ext cx="1180000" cy="31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Критерий</a:t>
            </a:r>
            <a:endParaRPr lang="ru-RU" sz="1000"/>
          </a:p>
        </p:txBody>
      </p:sp>
      <p:sp>
        <p:nvSpPr>
          <p:cNvPr id="47" name="Table Cell 47"/>
          <p:cNvSpPr txBox="1"/>
          <p:nvPr/>
        </p:nvSpPr>
        <p:spPr>
          <a:xfrm>
            <a:off x="6330000" y="1200000"/>
            <a:ext cx="950000" cy="31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PostgreSQL</a:t>
            </a:r>
            <a:endParaRPr lang="ru-RU" sz="1000"/>
          </a:p>
        </p:txBody>
      </p:sp>
      <p:sp>
        <p:nvSpPr>
          <p:cNvPr id="48" name="Table Cell 48"/>
          <p:cNvSpPr txBox="1"/>
          <p:nvPr/>
        </p:nvSpPr>
        <p:spPr>
          <a:xfrm>
            <a:off x="7280000" y="1200000"/>
            <a:ext cx="1620000" cy="31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Зачем</a:t>
            </a:r>
            <a:endParaRPr lang="ru-RU" sz="1000"/>
          </a:p>
        </p:txBody>
      </p:sp>
      <p:sp>
        <p:nvSpPr>
          <p:cNvPr id="49" name="Table Cell 49"/>
          <p:cNvSpPr txBox="1"/>
          <p:nvPr/>
        </p:nvSpPr>
        <p:spPr>
          <a:xfrm>
            <a:off x="5150000" y="1510000"/>
            <a:ext cx="118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Реляционная</a:t>
            </a:r>
            <a:endParaRPr lang="ru-RU" sz="1000"/>
          </a:p>
          <a:p>
            <a:pPr algn="l"/>
            <a:r>
              <a:rPr lang="ru-RU" sz="1000">
                <a:solidFill>
                  <a:srgbClr val="000000"/>
                </a:solidFill>
              </a:rPr>
              <a:t>модель</a:t>
            </a:r>
            <a:endParaRPr lang="ru-RU" sz="1000"/>
          </a:p>
        </p:txBody>
      </p:sp>
      <p:sp>
        <p:nvSpPr>
          <p:cNvPr id="50" name="Table Cell 50"/>
          <p:cNvSpPr txBox="1"/>
          <p:nvPr/>
        </p:nvSpPr>
        <p:spPr>
          <a:xfrm>
            <a:off x="6330000" y="1510000"/>
            <a:ext cx="95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да</a:t>
            </a:r>
            <a:endParaRPr lang="ru-RU" sz="1000"/>
          </a:p>
        </p:txBody>
      </p:sp>
      <p:sp>
        <p:nvSpPr>
          <p:cNvPr id="51" name="Table Cell 51"/>
          <p:cNvSpPr txBox="1"/>
          <p:nvPr/>
        </p:nvSpPr>
        <p:spPr>
          <a:xfrm>
            <a:off x="7280000" y="1510000"/>
            <a:ext cx="162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связи и нормализация</a:t>
            </a:r>
            <a:endParaRPr lang="ru-RU" sz="1000"/>
          </a:p>
        </p:txBody>
      </p:sp>
      <p:sp>
        <p:nvSpPr>
          <p:cNvPr id="52" name="Table Cell 52"/>
          <p:cNvSpPr txBox="1"/>
          <p:nvPr/>
        </p:nvSpPr>
        <p:spPr>
          <a:xfrm>
            <a:off x="5150000" y="1980000"/>
            <a:ext cx="118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Транзакции,</a:t>
            </a:r>
            <a:endParaRPr lang="ru-RU" sz="1000"/>
          </a:p>
          <a:p>
            <a:pPr algn="l"/>
            <a:r>
              <a:rPr lang="ru-RU" sz="1000">
                <a:solidFill>
                  <a:srgbClr val="000000"/>
                </a:solidFill>
              </a:rPr>
              <a:t>FK</a:t>
            </a:r>
            <a:endParaRPr lang="ru-RU" sz="1000"/>
          </a:p>
        </p:txBody>
      </p:sp>
      <p:sp>
        <p:nvSpPr>
          <p:cNvPr id="53" name="Table Cell 53"/>
          <p:cNvSpPr txBox="1"/>
          <p:nvPr/>
        </p:nvSpPr>
        <p:spPr>
          <a:xfrm>
            <a:off x="6330000" y="1980000"/>
            <a:ext cx="95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да</a:t>
            </a:r>
            <a:endParaRPr lang="ru-RU" sz="1000"/>
          </a:p>
        </p:txBody>
      </p:sp>
      <p:sp>
        <p:nvSpPr>
          <p:cNvPr id="54" name="Table Cell 54"/>
          <p:cNvSpPr txBox="1"/>
          <p:nvPr/>
        </p:nvSpPr>
        <p:spPr>
          <a:xfrm>
            <a:off x="7280000" y="1980000"/>
            <a:ext cx="162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согласованность</a:t>
            </a:r>
            <a:endParaRPr lang="ru-RU" sz="1000"/>
          </a:p>
        </p:txBody>
      </p:sp>
      <p:sp>
        <p:nvSpPr>
          <p:cNvPr id="55" name="Table Cell 55"/>
          <p:cNvSpPr txBox="1"/>
          <p:nvPr/>
        </p:nvSpPr>
        <p:spPr>
          <a:xfrm>
            <a:off x="5150000" y="2450000"/>
            <a:ext cx="118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TSTZRANGE,</a:t>
            </a:r>
            <a:endParaRPr lang="ru-RU" sz="1000"/>
          </a:p>
          <a:p>
            <a:pPr algn="l"/>
            <a:r>
              <a:rPr lang="ru-RU" sz="1000">
                <a:solidFill>
                  <a:srgbClr val="000000"/>
                </a:solidFill>
              </a:rPr>
              <a:t>EXCLUDE</a:t>
            </a:r>
            <a:endParaRPr lang="ru-RU" sz="1000"/>
          </a:p>
        </p:txBody>
      </p:sp>
      <p:sp>
        <p:nvSpPr>
          <p:cNvPr id="56" name="Table Cell 56"/>
          <p:cNvSpPr txBox="1"/>
          <p:nvPr/>
        </p:nvSpPr>
        <p:spPr>
          <a:xfrm>
            <a:off x="6330000" y="2450000"/>
            <a:ext cx="95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да</a:t>
            </a:r>
            <a:endParaRPr lang="ru-RU" sz="1000"/>
          </a:p>
        </p:txBody>
      </p:sp>
      <p:sp>
        <p:nvSpPr>
          <p:cNvPr id="57" name="Table Cell 57"/>
          <p:cNvSpPr txBox="1"/>
          <p:nvPr/>
        </p:nvSpPr>
        <p:spPr>
          <a:xfrm>
            <a:off x="7280000" y="2450000"/>
            <a:ext cx="1620000" cy="47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запрет конфликтов</a:t>
            </a:r>
            <a:endParaRPr lang="ru-RU" sz="1000"/>
          </a:p>
        </p:txBody>
      </p:sp>
      <p:sp>
        <p:nvSpPr>
          <p:cNvPr id="58" name="Table Cell 58"/>
          <p:cNvSpPr txBox="1"/>
          <p:nvPr/>
        </p:nvSpPr>
        <p:spPr>
          <a:xfrm>
            <a:off x="5150000" y="2920000"/>
            <a:ext cx="118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Функции,</a:t>
            </a:r>
            <a:endParaRPr lang="ru-RU" sz="1000"/>
          </a:p>
          <a:p>
            <a:pPr algn="l"/>
            <a:r>
              <a:rPr lang="ru-RU" sz="1000">
                <a:solidFill>
                  <a:srgbClr val="000000"/>
                </a:solidFill>
              </a:rPr>
              <a:t>триггеры</a:t>
            </a:r>
            <a:endParaRPr lang="ru-RU" sz="1000"/>
          </a:p>
        </p:txBody>
      </p:sp>
      <p:sp>
        <p:nvSpPr>
          <p:cNvPr id="59" name="Table Cell 59"/>
          <p:cNvSpPr txBox="1"/>
          <p:nvPr/>
        </p:nvSpPr>
        <p:spPr>
          <a:xfrm>
            <a:off x="6330000" y="2920000"/>
            <a:ext cx="95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да</a:t>
            </a:r>
            <a:endParaRPr lang="ru-RU" sz="1000"/>
          </a:p>
        </p:txBody>
      </p:sp>
      <p:sp>
        <p:nvSpPr>
          <p:cNvPr id="60" name="Table Cell 60"/>
          <p:cNvSpPr txBox="1"/>
          <p:nvPr/>
        </p:nvSpPr>
        <p:spPr>
          <a:xfrm>
            <a:off x="7280000" y="2920000"/>
            <a:ext cx="1620000" cy="47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логика в БД</a:t>
            </a:r>
            <a:endParaRPr lang="ru-RU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Схема программного обеспечения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590550" y="436245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4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Frontend работает через REST API. Backend разделен на Handler, Service и Repository;</a:t>
            </a:r>
            <a:endParaRPr sz="142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590550" y="458152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4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основные данные хранятся в PostgreSQL, Redis используется для кэширования.</a:t>
            </a:r>
            <a:endParaRPr sz="142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Изображение 6" descr="technology_app_compon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6295"/>
            <a:ext cx="9144000" cy="3470275"/>
          </a:xfrm>
          <a:prstGeom prst="rect">
            <a:avLst/>
          </a:prstGeom>
        </p:spPr>
      </p:pic>
      <p:sp>
        <p:nvSpPr>
          <p:cNvPr id="8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endParaRPr lang="ru-RU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0" y="0"/>
            <a:ext cx="9144000" cy="4375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250" b="1">
                <a:solidFill>
                  <a:srgbClr val="000000"/>
                </a:solidFill>
                <a:latin typeface="Times New Roman" panose="02020603050405020304" charset="0"/>
                <a:ea typeface="TimesNewRomanPS-BoldMT"/>
                <a:cs typeface="Times New Roman" panose="02020603050405020304" charset="0"/>
              </a:rPr>
              <a:t>Диаграмма взаимодействия с реляционной СУБД и InMemory СУБД</a:t>
            </a:r>
            <a:endParaRPr sz="2250" b="1">
              <a:solidFill>
                <a:srgbClr val="000000"/>
              </a:solidFill>
              <a:latin typeface="Times New Roman" panose="02020603050405020304" charset="0"/>
              <a:ea typeface="TimesNewRomanPS-BoldMT"/>
              <a:cs typeface="Times New Roman" panose="02020603050405020304" charset="0"/>
            </a:endParaRPr>
          </a:p>
        </p:txBody>
      </p:sp>
      <p:pic>
        <p:nvPicPr>
          <p:cNvPr id="4" name="Изображение 3" descr="technology_cache_sequence_plantuml_pai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2285"/>
            <a:ext cx="9144635" cy="4641850"/>
          </a:xfrm>
          <a:prstGeom prst="rect">
            <a:avLst/>
          </a:prstGeom>
        </p:spPr>
      </p:pic>
      <p:sp>
        <p:nvSpPr>
          <p:cNvPr id="5" name="Slide number"/>
          <p:cNvSpPr txBox="1"/>
          <p:nvPr/>
        </p:nvSpPr>
        <p:spPr>
          <a:xfrm>
            <a:off x="8766175" y="490601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endParaRPr lang="ru-RU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Демонстрация работы приложения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009650"/>
            <a:ext cx="2571750" cy="180975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1009650"/>
            <a:ext cx="2571750" cy="180975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009650"/>
            <a:ext cx="2571750" cy="1809750"/>
          </a:xfrm>
          <a:prstGeom prst="rect">
            <a:avLst/>
          </a:prstGeom>
        </p:spPr>
      </p:pic>
      <p:sp>
        <p:nvSpPr>
          <p:cNvPr id="6" name="Прямоугольник 5"/>
          <p:cNvSpPr>
            <a:spLocks noGrp="1"/>
          </p:cNvSpPr>
          <p:nvPr/>
        </p:nvSpPr>
        <p:spPr>
          <a:xfrm>
            <a:off x="590550" y="299085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Вход в приложение</a:t>
            </a:r>
            <a:endParaRPr sz="13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3476625" y="299085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Рабочее место пользователя</a:t>
            </a:r>
            <a:endParaRPr sz="13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362700" y="299085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Оформление записи</a:t>
            </a:r>
            <a:endParaRPr sz="13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876300" y="3790950"/>
            <a:ext cx="7810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Интерфейс адаптируется под роль пользователя: пациент работает с записью,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876300" y="4029075"/>
            <a:ext cx="7810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врач проводит прием, администратор сопровождает расписание и оплату.</a:t>
            </a:r>
            <a:endParaRPr sz="150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</a:t>
            </a:r>
            <a:endParaRPr lang="ru-RU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5090" y="159385"/>
            <a:ext cx="9060180" cy="339725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Исследование зависимости времени чтения расписания от использования индексов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5200" y="655000"/>
            <a:ext cx="800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Методика: EXPLAIN ANALYZE внутри PostgreSQL; 7 запусков на каждый объем.</a:t>
            </a:r>
            <a:endParaRPr lang="ru-RU" sz="1200"/>
          </a:p>
        </p:txBody>
      </p:sp>
      <p:sp>
        <p:nvSpPr>
          <p:cNvPr id="4" name="Table Cell 4"/>
          <p:cNvSpPr txBox="1"/>
          <p:nvPr/>
        </p:nvSpPr>
        <p:spPr>
          <a:xfrm>
            <a:off x="225360" y="3479665"/>
            <a:ext cx="168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Объем</a:t>
            </a:r>
            <a:endParaRPr lang="ru-RU" sz="1000"/>
          </a:p>
        </p:txBody>
      </p:sp>
      <p:sp>
        <p:nvSpPr>
          <p:cNvPr id="5" name="Table Cell 5"/>
          <p:cNvSpPr txBox="1"/>
          <p:nvPr/>
        </p:nvSpPr>
        <p:spPr>
          <a:xfrm>
            <a:off x="1905360" y="3479665"/>
            <a:ext cx="102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Без инд., мс</a:t>
            </a:r>
            <a:endParaRPr lang="ru-RU" sz="1000"/>
          </a:p>
        </p:txBody>
      </p:sp>
      <p:sp>
        <p:nvSpPr>
          <p:cNvPr id="6" name="Table Cell 6"/>
          <p:cNvSpPr txBox="1"/>
          <p:nvPr/>
        </p:nvSpPr>
        <p:spPr>
          <a:xfrm>
            <a:off x="2925360" y="3479665"/>
            <a:ext cx="102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С инд., мс</a:t>
            </a:r>
            <a:endParaRPr lang="ru-RU" sz="1000"/>
          </a:p>
        </p:txBody>
      </p:sp>
      <p:sp>
        <p:nvSpPr>
          <p:cNvPr id="7" name="Table Cell 7"/>
          <p:cNvSpPr txBox="1"/>
          <p:nvPr/>
        </p:nvSpPr>
        <p:spPr>
          <a:xfrm>
            <a:off x="3945360" y="3479665"/>
            <a:ext cx="105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Выигрыш, %</a:t>
            </a:r>
            <a:endParaRPr lang="ru-RU" sz="1000"/>
          </a:p>
        </p:txBody>
      </p:sp>
      <p:sp>
        <p:nvSpPr>
          <p:cNvPr id="8" name="Table Cell 8"/>
          <p:cNvSpPr txBox="1"/>
          <p:nvPr/>
        </p:nvSpPr>
        <p:spPr>
          <a:xfrm>
            <a:off x="225360" y="3779665"/>
            <a:ext cx="168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5 000</a:t>
            </a:r>
            <a:endParaRPr lang="ru-RU" sz="1000"/>
          </a:p>
        </p:txBody>
      </p:sp>
      <p:sp>
        <p:nvSpPr>
          <p:cNvPr id="9" name="Table Cell 9"/>
          <p:cNvSpPr txBox="1"/>
          <p:nvPr/>
        </p:nvSpPr>
        <p:spPr>
          <a:xfrm>
            <a:off x="1905360" y="377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1,745</a:t>
            </a:r>
            <a:endParaRPr lang="ru-RU" sz="1000"/>
          </a:p>
        </p:txBody>
      </p:sp>
      <p:sp>
        <p:nvSpPr>
          <p:cNvPr id="10" name="Table Cell 10"/>
          <p:cNvSpPr txBox="1"/>
          <p:nvPr/>
        </p:nvSpPr>
        <p:spPr>
          <a:xfrm>
            <a:off x="2925360" y="377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1,717</a:t>
            </a:r>
            <a:endParaRPr lang="ru-RU" sz="1000"/>
          </a:p>
        </p:txBody>
      </p:sp>
      <p:sp>
        <p:nvSpPr>
          <p:cNvPr id="11" name="Table Cell 11"/>
          <p:cNvSpPr txBox="1"/>
          <p:nvPr/>
        </p:nvSpPr>
        <p:spPr>
          <a:xfrm>
            <a:off x="3945360" y="3779665"/>
            <a:ext cx="105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1,60</a:t>
            </a:r>
            <a:endParaRPr lang="ru-RU" sz="1000"/>
          </a:p>
        </p:txBody>
      </p:sp>
      <p:sp>
        <p:nvSpPr>
          <p:cNvPr id="12" name="Table Cell 12"/>
          <p:cNvSpPr txBox="1"/>
          <p:nvPr/>
        </p:nvSpPr>
        <p:spPr>
          <a:xfrm>
            <a:off x="225360" y="4139665"/>
            <a:ext cx="168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20 000</a:t>
            </a:r>
            <a:endParaRPr lang="ru-RU" sz="1000"/>
          </a:p>
        </p:txBody>
      </p:sp>
      <p:sp>
        <p:nvSpPr>
          <p:cNvPr id="13" name="Table Cell 13"/>
          <p:cNvSpPr txBox="1"/>
          <p:nvPr/>
        </p:nvSpPr>
        <p:spPr>
          <a:xfrm>
            <a:off x="1905360" y="4139665"/>
            <a:ext cx="102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6,292</a:t>
            </a:r>
            <a:endParaRPr lang="ru-RU" sz="1000"/>
          </a:p>
        </p:txBody>
      </p:sp>
      <p:sp>
        <p:nvSpPr>
          <p:cNvPr id="14" name="Table Cell 14"/>
          <p:cNvSpPr txBox="1"/>
          <p:nvPr/>
        </p:nvSpPr>
        <p:spPr>
          <a:xfrm>
            <a:off x="2925360" y="4139665"/>
            <a:ext cx="102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3,387</a:t>
            </a:r>
            <a:endParaRPr lang="ru-RU" sz="1000"/>
          </a:p>
        </p:txBody>
      </p:sp>
      <p:sp>
        <p:nvSpPr>
          <p:cNvPr id="15" name="Table Cell 15"/>
          <p:cNvSpPr txBox="1"/>
          <p:nvPr/>
        </p:nvSpPr>
        <p:spPr>
          <a:xfrm>
            <a:off x="3945360" y="4139665"/>
            <a:ext cx="105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46,17</a:t>
            </a:r>
            <a:endParaRPr lang="ru-RU" sz="1000"/>
          </a:p>
        </p:txBody>
      </p:sp>
      <p:sp>
        <p:nvSpPr>
          <p:cNvPr id="16" name="Table Cell 16"/>
          <p:cNvSpPr txBox="1"/>
          <p:nvPr/>
        </p:nvSpPr>
        <p:spPr>
          <a:xfrm>
            <a:off x="225360" y="4499665"/>
            <a:ext cx="168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50 000</a:t>
            </a:r>
            <a:endParaRPr lang="ru-RU" sz="1000"/>
          </a:p>
        </p:txBody>
      </p:sp>
      <p:sp>
        <p:nvSpPr>
          <p:cNvPr id="17" name="Table Cell 17"/>
          <p:cNvSpPr txBox="1"/>
          <p:nvPr/>
        </p:nvSpPr>
        <p:spPr>
          <a:xfrm>
            <a:off x="1905360" y="449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23,188</a:t>
            </a:r>
            <a:endParaRPr lang="ru-RU" sz="1000"/>
          </a:p>
        </p:txBody>
      </p:sp>
      <p:sp>
        <p:nvSpPr>
          <p:cNvPr id="18" name="Table Cell 18"/>
          <p:cNvSpPr txBox="1"/>
          <p:nvPr/>
        </p:nvSpPr>
        <p:spPr>
          <a:xfrm>
            <a:off x="2925360" y="449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7,614</a:t>
            </a:r>
            <a:endParaRPr lang="ru-RU" sz="1000"/>
          </a:p>
        </p:txBody>
      </p:sp>
      <p:sp>
        <p:nvSpPr>
          <p:cNvPr id="19" name="Table Cell 19"/>
          <p:cNvSpPr txBox="1"/>
          <p:nvPr/>
        </p:nvSpPr>
        <p:spPr>
          <a:xfrm>
            <a:off x="3945360" y="4499665"/>
            <a:ext cx="105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67,16</a:t>
            </a:r>
            <a:endParaRPr lang="ru-RU" sz="1000"/>
          </a:p>
        </p:txBody>
      </p:sp>
      <p:pic>
        <p:nvPicPr>
          <p:cNvPr id="20" name="image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" y="918845"/>
            <a:ext cx="8535035" cy="2361565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120000" y="3480000"/>
            <a:ext cx="3500000" cy="640000"/>
          </a:xfrm>
          <a:prstGeom prst="rect">
            <a:avLst/>
          </a:prstGeom>
          <a:solidFill>
            <a:srgbClr val="F4F7FA"/>
          </a:solidFill>
          <a:ln w="9000">
            <a:solidFill>
              <a:srgbClr val="D6DEE6"/>
            </a:solidFill>
          </a:ln>
        </p:spPr>
        <p:txBody>
          <a:bodyPr wrap="square" lIns="75000" tIns="37500" rIns="75000" bIns="37500" anchor="ctr"/>
          <a:lstStyle/>
          <a:p>
            <a:pPr algn="l"/>
            <a:r>
              <a:rPr lang="ru-RU" sz="1200">
                <a:solidFill>
                  <a:srgbClr val="263849"/>
                </a:solidFill>
              </a:rPr>
              <a:t>Индексы дают основной выигрыш на больших объемах: для 50 000 строк чтение расписания ускорилось примерно в 3 раза.</a:t>
            </a:r>
            <a:endParaRPr lang="ru-RU" sz="1200"/>
          </a:p>
        </p:txBody>
      </p:sp>
      <p:sp>
        <p:nvSpPr>
          <p:cNvPr id="22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r"/>
            <a:r>
              <a:rPr lang="ru-RU" sz="1000">
                <a:solidFill>
                  <a:srgbClr val="000000"/>
                </a:solidFill>
              </a:rPr>
              <a:t>18</a:t>
            </a:r>
            <a:endParaRPr lang="ru-RU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111125" y="165735"/>
            <a:ext cx="8946515" cy="339725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Исследование зависимости времени чтения расписания от использования индексов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0000" y="655000"/>
            <a:ext cx="800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ru-RU" sz="1200">
                <a:solidFill>
                  <a:srgbClr val="000000"/>
                </a:solidFill>
              </a:rPr>
              <a:t>Сравнение цепочки: без индексов -&gt; индексы -&gt; Redis cache hit.</a:t>
            </a:r>
            <a:endParaRPr lang="ru-RU" sz="1200"/>
          </a:p>
        </p:txBody>
      </p:sp>
      <p:sp>
        <p:nvSpPr>
          <p:cNvPr id="4" name="Table Cell 4"/>
          <p:cNvSpPr txBox="1"/>
          <p:nvPr/>
        </p:nvSpPr>
        <p:spPr>
          <a:xfrm>
            <a:off x="268540" y="3479665"/>
            <a:ext cx="168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Объем</a:t>
            </a:r>
            <a:endParaRPr lang="ru-RU" sz="1000"/>
          </a:p>
        </p:txBody>
      </p:sp>
      <p:sp>
        <p:nvSpPr>
          <p:cNvPr id="5" name="Table Cell 5"/>
          <p:cNvSpPr txBox="1"/>
          <p:nvPr/>
        </p:nvSpPr>
        <p:spPr>
          <a:xfrm>
            <a:off x="1948540" y="3479665"/>
            <a:ext cx="102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Без инд., мс</a:t>
            </a:r>
            <a:endParaRPr lang="ru-RU" sz="1000"/>
          </a:p>
        </p:txBody>
      </p:sp>
      <p:sp>
        <p:nvSpPr>
          <p:cNvPr id="6" name="Table Cell 6"/>
          <p:cNvSpPr txBox="1"/>
          <p:nvPr/>
        </p:nvSpPr>
        <p:spPr>
          <a:xfrm>
            <a:off x="2968540" y="3479665"/>
            <a:ext cx="102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С инд., мс</a:t>
            </a:r>
            <a:endParaRPr lang="ru-RU" sz="1000"/>
          </a:p>
        </p:txBody>
      </p:sp>
      <p:sp>
        <p:nvSpPr>
          <p:cNvPr id="7" name="Table Cell 7"/>
          <p:cNvSpPr txBox="1"/>
          <p:nvPr/>
        </p:nvSpPr>
        <p:spPr>
          <a:xfrm>
            <a:off x="3988540" y="3479665"/>
            <a:ext cx="1050000" cy="300000"/>
          </a:xfrm>
          <a:prstGeom prst="rect">
            <a:avLst/>
          </a:prstGeom>
          <a:solidFill>
            <a:srgbClr val="E9EEF3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 b="1">
                <a:solidFill>
                  <a:srgbClr val="000000"/>
                </a:solidFill>
              </a:rPr>
              <a:t>Redis hit, мс</a:t>
            </a:r>
            <a:endParaRPr lang="ru-RU" sz="1000"/>
          </a:p>
        </p:txBody>
      </p:sp>
      <p:sp>
        <p:nvSpPr>
          <p:cNvPr id="8" name="Table Cell 8"/>
          <p:cNvSpPr txBox="1"/>
          <p:nvPr/>
        </p:nvSpPr>
        <p:spPr>
          <a:xfrm>
            <a:off x="268540" y="3779665"/>
            <a:ext cx="168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5 000</a:t>
            </a:r>
            <a:endParaRPr lang="ru-RU" sz="1000"/>
          </a:p>
        </p:txBody>
      </p:sp>
      <p:sp>
        <p:nvSpPr>
          <p:cNvPr id="9" name="Table Cell 9"/>
          <p:cNvSpPr txBox="1"/>
          <p:nvPr/>
        </p:nvSpPr>
        <p:spPr>
          <a:xfrm>
            <a:off x="1948540" y="377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36,893</a:t>
            </a:r>
            <a:endParaRPr lang="ru-RU" sz="1000"/>
          </a:p>
        </p:txBody>
      </p:sp>
      <p:sp>
        <p:nvSpPr>
          <p:cNvPr id="10" name="Table Cell 10"/>
          <p:cNvSpPr txBox="1"/>
          <p:nvPr/>
        </p:nvSpPr>
        <p:spPr>
          <a:xfrm>
            <a:off x="2968540" y="377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29,719</a:t>
            </a:r>
            <a:endParaRPr lang="ru-RU" sz="1000"/>
          </a:p>
        </p:txBody>
      </p:sp>
      <p:sp>
        <p:nvSpPr>
          <p:cNvPr id="11" name="Table Cell 11"/>
          <p:cNvSpPr txBox="1"/>
          <p:nvPr/>
        </p:nvSpPr>
        <p:spPr>
          <a:xfrm>
            <a:off x="3988540" y="3779665"/>
            <a:ext cx="105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26,801</a:t>
            </a:r>
            <a:endParaRPr lang="ru-RU" sz="1000"/>
          </a:p>
        </p:txBody>
      </p:sp>
      <p:sp>
        <p:nvSpPr>
          <p:cNvPr id="12" name="Table Cell 12"/>
          <p:cNvSpPr txBox="1"/>
          <p:nvPr/>
        </p:nvSpPr>
        <p:spPr>
          <a:xfrm>
            <a:off x="268540" y="4139665"/>
            <a:ext cx="168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20 000</a:t>
            </a:r>
            <a:endParaRPr lang="ru-RU" sz="1000"/>
          </a:p>
        </p:txBody>
      </p:sp>
      <p:sp>
        <p:nvSpPr>
          <p:cNvPr id="13" name="Table Cell 13"/>
          <p:cNvSpPr txBox="1"/>
          <p:nvPr/>
        </p:nvSpPr>
        <p:spPr>
          <a:xfrm>
            <a:off x="1948540" y="4139665"/>
            <a:ext cx="102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149,756</a:t>
            </a:r>
            <a:endParaRPr lang="ru-RU" sz="1000"/>
          </a:p>
        </p:txBody>
      </p:sp>
      <p:sp>
        <p:nvSpPr>
          <p:cNvPr id="14" name="Table Cell 14"/>
          <p:cNvSpPr txBox="1"/>
          <p:nvPr/>
        </p:nvSpPr>
        <p:spPr>
          <a:xfrm>
            <a:off x="2968540" y="4139665"/>
            <a:ext cx="102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105,388</a:t>
            </a:r>
            <a:endParaRPr lang="ru-RU" sz="1000"/>
          </a:p>
        </p:txBody>
      </p:sp>
      <p:sp>
        <p:nvSpPr>
          <p:cNvPr id="15" name="Table Cell 15"/>
          <p:cNvSpPr txBox="1"/>
          <p:nvPr/>
        </p:nvSpPr>
        <p:spPr>
          <a:xfrm>
            <a:off x="3988540" y="4139665"/>
            <a:ext cx="1050000" cy="360000"/>
          </a:xfrm>
          <a:prstGeom prst="rect">
            <a:avLst/>
          </a:prstGeom>
          <a:solidFill>
            <a:srgbClr val="F6F8FA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97,442</a:t>
            </a:r>
            <a:endParaRPr lang="ru-RU" sz="1000"/>
          </a:p>
        </p:txBody>
      </p:sp>
      <p:sp>
        <p:nvSpPr>
          <p:cNvPr id="16" name="Table Cell 16"/>
          <p:cNvSpPr txBox="1"/>
          <p:nvPr/>
        </p:nvSpPr>
        <p:spPr>
          <a:xfrm>
            <a:off x="268540" y="4499665"/>
            <a:ext cx="168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50 000</a:t>
            </a:r>
            <a:endParaRPr lang="ru-RU" sz="1000"/>
          </a:p>
        </p:txBody>
      </p:sp>
      <p:sp>
        <p:nvSpPr>
          <p:cNvPr id="17" name="Table Cell 17"/>
          <p:cNvSpPr txBox="1"/>
          <p:nvPr/>
        </p:nvSpPr>
        <p:spPr>
          <a:xfrm>
            <a:off x="1948540" y="449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292,108</a:t>
            </a:r>
            <a:endParaRPr lang="ru-RU" sz="1000"/>
          </a:p>
        </p:txBody>
      </p:sp>
      <p:sp>
        <p:nvSpPr>
          <p:cNvPr id="18" name="Table Cell 18"/>
          <p:cNvSpPr txBox="1"/>
          <p:nvPr/>
        </p:nvSpPr>
        <p:spPr>
          <a:xfrm>
            <a:off x="2968540" y="4499665"/>
            <a:ext cx="102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279,806</a:t>
            </a:r>
            <a:endParaRPr lang="ru-RU" sz="1000"/>
          </a:p>
        </p:txBody>
      </p:sp>
      <p:sp>
        <p:nvSpPr>
          <p:cNvPr id="19" name="Table Cell 19"/>
          <p:cNvSpPr txBox="1"/>
          <p:nvPr/>
        </p:nvSpPr>
        <p:spPr>
          <a:xfrm>
            <a:off x="3988540" y="4499665"/>
            <a:ext cx="1050000" cy="3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EB8C2"/>
            </a:solidFill>
          </a:ln>
        </p:spPr>
        <p:txBody>
          <a:bodyPr wrap="square" lIns="55000" tIns="27500" rIns="55000" bIns="27500" anchor="ctr"/>
          <a:lstStyle/>
          <a:p>
            <a:pPr algn="l"/>
            <a:r>
              <a:rPr lang="ru-RU" sz="1000">
                <a:solidFill>
                  <a:srgbClr val="000000"/>
                </a:solidFill>
              </a:rPr>
              <a:t>260,563</a:t>
            </a:r>
            <a:endParaRPr lang="ru-RU" sz="1000"/>
          </a:p>
        </p:txBody>
      </p:sp>
      <p:pic>
        <p:nvPicPr>
          <p:cNvPr id="20" name="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920115"/>
            <a:ext cx="8442325" cy="244475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120000" y="3480000"/>
            <a:ext cx="3500000" cy="640000"/>
          </a:xfrm>
          <a:prstGeom prst="rect">
            <a:avLst/>
          </a:prstGeom>
          <a:solidFill>
            <a:srgbClr val="F4F7FA"/>
          </a:solidFill>
          <a:ln w="9000">
            <a:solidFill>
              <a:srgbClr val="D6DEE6"/>
            </a:solidFill>
          </a:ln>
        </p:spPr>
        <p:txBody>
          <a:bodyPr wrap="square" lIns="75000" tIns="37500" rIns="75000" bIns="37500" anchor="ctr"/>
          <a:lstStyle/>
          <a:p>
            <a:pPr algn="l"/>
            <a:r>
              <a:rPr lang="ru-RU" sz="1200">
                <a:solidFill>
                  <a:srgbClr val="263849"/>
                </a:solidFill>
              </a:rPr>
              <a:t>Замер показывает пользовательский путь целиком: HTTP, backend, PostgreSQL или Redis, сериализацию JSON и передачу ответа.</a:t>
            </a:r>
            <a:endParaRPr lang="ru-RU" sz="1200"/>
          </a:p>
        </p:txBody>
      </p:sp>
      <p:sp>
        <p:nvSpPr>
          <p:cNvPr id="22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r"/>
            <a:r>
              <a:rPr lang="ru-RU" sz="1000">
                <a:solidFill>
                  <a:srgbClr val="000000"/>
                </a:solidFill>
              </a:rPr>
              <a:t>19</a:t>
            </a:r>
            <a:endParaRPr lang="ru-RU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89865" y="116205"/>
            <a:ext cx="8890000" cy="360045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Исследование зависимости времени операций чтения от объема данных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530000" y="670000"/>
            <a:ext cx="8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l"/>
            <a:r>
              <a:rPr lang="ru-RU" sz="1300">
                <a:solidFill>
                  <a:srgbClr val="000000"/>
                </a:solidFill>
              </a:rPr>
              <a:t>Сравнение расписания, истории пациента, счетов и отчета при росте объема данных.</a:t>
            </a:r>
            <a:endParaRPr lang="ru-RU" sz="1300"/>
          </a:p>
        </p:txBody>
      </p:sp>
      <p:pic>
        <p:nvPicPr>
          <p:cNvPr id="4" name="imag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0" y="990000"/>
            <a:ext cx="6450000" cy="4010000"/>
          </a:xfrm>
          <a:prstGeom prst="rect">
            <a:avLst/>
          </a:prstGeom>
        </p:spPr>
      </p:pic>
      <p:sp>
        <p:nvSpPr>
          <p:cNvPr id="5" name="Takeaway"/>
          <p:cNvSpPr txBox="1"/>
          <p:nvPr/>
        </p:nvSpPr>
        <p:spPr>
          <a:xfrm>
            <a:off x="7620000" y="1250000"/>
            <a:ext cx="1080000" cy="2350000"/>
          </a:xfrm>
          <a:prstGeom prst="rect">
            <a:avLst/>
          </a:prstGeom>
          <a:solidFill>
            <a:srgbClr val="F4F7FA"/>
          </a:solidFill>
          <a:ln w="9000">
            <a:solidFill>
              <a:srgbClr val="D6DEE6"/>
            </a:solidFill>
          </a:ln>
        </p:spPr>
        <p:txBody>
          <a:bodyPr wrap="square" lIns="70000" tIns="35000" rIns="70000" bIns="35000" anchor="ctr"/>
          <a:lstStyle/>
          <a:p>
            <a:pPr algn="l"/>
            <a:r>
              <a:rPr lang="ru-RU" sz="1200">
                <a:solidFill>
                  <a:srgbClr val="263849"/>
                </a:solidFill>
              </a:rPr>
              <a:t>Самой тяжелой операцией оказался отчет по выручке: он соединяет несколько таблиц и выполняет агрегацию.</a:t>
            </a:r>
            <a:endParaRPr lang="ru-RU" sz="1200"/>
          </a:p>
        </p:txBody>
      </p:sp>
      <p:sp>
        <p:nvSpPr>
          <p:cNvPr id="6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25000" rIns="0" bIns="25000" anchor="ctr"/>
          <a:lstStyle/>
          <a:p>
            <a:pPr algn="r"/>
            <a:r>
              <a:rPr lang="ru-RU" sz="1000">
                <a:solidFill>
                  <a:srgbClr val="000000"/>
                </a:solidFill>
              </a:rPr>
              <a:t>20</a:t>
            </a:r>
            <a:endParaRPr lang="ru-RU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Прямоугольник 1"/>
          <p:cNvSpPr>
            <a:spLocks noGrp="1"/>
          </p:cNvSpPr>
          <p:nvPr/>
        </p:nvSpPr>
        <p:spPr>
          <a:xfrm>
            <a:off x="514350" y="3238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Заключение</a:t>
            </a:r>
            <a:endParaRPr sz="2250" b="1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66750" y="99060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Цель работы достигнута: разработана база данных медицинской клиники</a:t>
            </a:r>
            <a:endParaRPr sz="172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66750" y="127635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и приложение доступа к ней.</a:t>
            </a:r>
            <a:endParaRPr sz="172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66750" y="156210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/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66750" y="184785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 ходе работы:</a:t>
            </a:r>
            <a:endParaRPr sz="1725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895350" y="2343150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проведен анализ предметной области и существующих решений;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895350" y="2686050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спроектированы сущности базы данных, роли и ограничения целостности;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895350" y="3028950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реализованы функции, триггеры и ролевая модель PostgreSQL;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895350" y="3371850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разработаны backend, frontend и кэширование часто запрашиваемых данных;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895350" y="3714750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проверена корректность работы и исследована производительность системы.</a:t>
            </a:r>
            <a:endParaRPr sz="1650">
              <a:solidFill>
                <a:srgbClr val="1111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Slide number"/>
          <p:cNvSpPr txBox="1"/>
          <p:nvPr/>
        </p:nvSpPr>
        <p:spPr>
          <a:xfrm>
            <a:off x="8572500" y="48196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r"/>
            <a:r>
              <a:rPr lang="ru-RU" sz="105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21</a:t>
            </a:r>
            <a:endParaRPr lang="ru-RU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6796</Words>
  <Application>WPS Presentation</Application>
  <PresentationFormat>Converted Presentation</PresentationFormat>
  <Paragraphs>518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Times New Roman</vt:lpstr>
      <vt:lpstr>TimesNewRomanPS-BoldMT</vt:lpstr>
      <vt:lpstr>Segoe Print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Konstantin Ataev</cp:lastModifiedBy>
  <cp:revision>19</cp:revision>
  <dcterms:created xsi:type="dcterms:W3CDTF">2026-06-02T10:27:00Z</dcterms:created>
  <dcterms:modified xsi:type="dcterms:W3CDTF">2026-06-06T10:59:27Z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F1C2102F8E6A458CA50199A42D776473_12</vt:lpwstr>
  </property>
</Properties>
</file>